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  <p:sldId id="271" r:id="rId16"/>
    <p:sldId id="272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9" d="100"/>
          <a:sy n="99" d="100"/>
        </p:scale>
        <p:origin x="54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34356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Abertura: quem aqui já ouviu "na minha máquina funciona"? Hoje vamos entender o que é Docker, instalar e subir um banco MySQL em um container.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Apresente o roteiro. Avise que a parte de instalação e a prática serão feitas passo a passo, e que o material de apoio em Word tem tudo escrito.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 uma história real do grupo: alguém com Java 17, outro com Java 21, MySQL em portas diferentes.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Antes dos containers, cada carga vinha de um jeito. A caixa padronizada permitiu transportar qualquer coisa em qualquer navio, trem ou caminhão.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VM: prédio com fundação própria para cada apartamento. Container: apartamentos dividindo a mesma fundação. Por isso o container é mais leve e rápido.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Receita, bolo congelado e bolo servido. Uma mesma imagem pode gerar vários containers.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Peça para todos acompanharem no próprio PC. O WSL é um Linux que roda dentro do Windows; o Docker Desktop usa ele por baixo. Os comandos precisam do PowerShell como administrador.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Depois de reiniciar, rode os comandos do WSL. Se aparecer "Versão Padrão: 2", está certo. Finalize rodando o hello-world para provar que o Docker funciona.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Passo 4: criar a pasta database. Passo 5: criar o docker-compose.yml. Explique que a indentação (espaços) importa no YAML.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Passe linha a linha. Avise que a senha "root" é só para estudo; em projeto real use senha forte e não suba no Git.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o erro de porta da captura: a 3306 já estava em uso, então no exemplo usamos 3307 no lado esquerdo. Depois mostre o container no Docker Desktop.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Sem volume, apagar o container do banco apaga os dados. Volume é o pendrive que fica fora do container. No nosso compose, é o mysql_data.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Compose é o maestro: descreve app, banco e rede em um arquivo só. Alerte sobre o -v no down.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Sugestão: demonstrar ao vivo com hello-world e depois um nginx.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Deixe a turma anotar. Esses são os problemas que mais aparecem na instalação no Windows.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Feche retomando a analogia da caixa padrão e convide a turma a subir o MySQL no próprio PC.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28016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Docker: o guia intuitivo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9CC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é, como instalar e como usar na prática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852160" y="1463040"/>
            <a:ext cx="777240" cy="457200"/>
          </a:xfrm>
          <a:prstGeom prst="roundRect">
            <a:avLst>
              <a:gd name="adj" fmla="val 12000"/>
            </a:avLst>
          </a:prstGeom>
          <a:solidFill>
            <a:srgbClr val="2496ED"/>
          </a:solidFill>
          <a:ln/>
        </p:spPr>
      </p:sp>
      <p:sp>
        <p:nvSpPr>
          <p:cNvPr id="6" name="Shape 4"/>
          <p:cNvSpPr/>
          <p:nvPr/>
        </p:nvSpPr>
        <p:spPr>
          <a:xfrm>
            <a:off x="6739128" y="1463040"/>
            <a:ext cx="777240" cy="457200"/>
          </a:xfrm>
          <a:prstGeom prst="roundRect">
            <a:avLst>
              <a:gd name="adj" fmla="val 12000"/>
            </a:avLst>
          </a:prstGeom>
          <a:solidFill>
            <a:srgbClr val="1B6FB8"/>
          </a:solidFill>
          <a:ln/>
        </p:spPr>
      </p:sp>
      <p:sp>
        <p:nvSpPr>
          <p:cNvPr id="7" name="Shape 5"/>
          <p:cNvSpPr/>
          <p:nvPr/>
        </p:nvSpPr>
        <p:spPr>
          <a:xfrm>
            <a:off x="7626096" y="1463040"/>
            <a:ext cx="777240" cy="457200"/>
          </a:xfrm>
          <a:prstGeom prst="roundRect">
            <a:avLst>
              <a:gd name="adj" fmla="val 12000"/>
            </a:avLst>
          </a:prstGeom>
          <a:solidFill>
            <a:srgbClr val="2496ED"/>
          </a:solidFill>
          <a:ln/>
        </p:spPr>
      </p:sp>
      <p:sp>
        <p:nvSpPr>
          <p:cNvPr id="8" name="Shape 6"/>
          <p:cNvSpPr/>
          <p:nvPr/>
        </p:nvSpPr>
        <p:spPr>
          <a:xfrm>
            <a:off x="5852160" y="2029968"/>
            <a:ext cx="777240" cy="457200"/>
          </a:xfrm>
          <a:prstGeom prst="roundRect">
            <a:avLst>
              <a:gd name="adj" fmla="val 12000"/>
            </a:avLst>
          </a:prstGeom>
          <a:solidFill>
            <a:srgbClr val="1B6FB8"/>
          </a:solidFill>
          <a:ln/>
        </p:spPr>
      </p:sp>
      <p:sp>
        <p:nvSpPr>
          <p:cNvPr id="9" name="Shape 7"/>
          <p:cNvSpPr/>
          <p:nvPr/>
        </p:nvSpPr>
        <p:spPr>
          <a:xfrm>
            <a:off x="6739128" y="2029968"/>
            <a:ext cx="777240" cy="457200"/>
          </a:xfrm>
          <a:prstGeom prst="roundRect">
            <a:avLst>
              <a:gd name="adj" fmla="val 12000"/>
            </a:avLst>
          </a:prstGeom>
          <a:solidFill>
            <a:srgbClr val="2496ED"/>
          </a:solidFill>
          <a:ln/>
        </p:spPr>
      </p:sp>
      <p:sp>
        <p:nvSpPr>
          <p:cNvPr id="10" name="Shape 8"/>
          <p:cNvSpPr/>
          <p:nvPr/>
        </p:nvSpPr>
        <p:spPr>
          <a:xfrm>
            <a:off x="7626096" y="2029968"/>
            <a:ext cx="777240" cy="457200"/>
          </a:xfrm>
          <a:prstGeom prst="roundRect">
            <a:avLst>
              <a:gd name="adj" fmla="val 12000"/>
            </a:avLst>
          </a:prstGeom>
          <a:solidFill>
            <a:srgbClr val="1B6FB8"/>
          </a:solidFill>
          <a:ln/>
        </p:spPr>
      </p:sp>
      <p:sp>
        <p:nvSpPr>
          <p:cNvPr id="11" name="Shape 9"/>
          <p:cNvSpPr/>
          <p:nvPr/>
        </p:nvSpPr>
        <p:spPr>
          <a:xfrm>
            <a:off x="5852160" y="2596896"/>
            <a:ext cx="777240" cy="457200"/>
          </a:xfrm>
          <a:prstGeom prst="roundRect">
            <a:avLst>
              <a:gd name="adj" fmla="val 12000"/>
            </a:avLst>
          </a:prstGeom>
          <a:solidFill>
            <a:srgbClr val="2496ED"/>
          </a:solidFill>
          <a:ln/>
        </p:spPr>
      </p:sp>
      <p:sp>
        <p:nvSpPr>
          <p:cNvPr id="12" name="Shape 10"/>
          <p:cNvSpPr/>
          <p:nvPr/>
        </p:nvSpPr>
        <p:spPr>
          <a:xfrm>
            <a:off x="6739128" y="2596896"/>
            <a:ext cx="777240" cy="457200"/>
          </a:xfrm>
          <a:prstGeom prst="roundRect">
            <a:avLst>
              <a:gd name="adj" fmla="val 12000"/>
            </a:avLst>
          </a:prstGeom>
          <a:solidFill>
            <a:srgbClr val="1B6FB8"/>
          </a:solidFill>
          <a:ln/>
        </p:spPr>
      </p:sp>
      <p:sp>
        <p:nvSpPr>
          <p:cNvPr id="13" name="Shape 11"/>
          <p:cNvSpPr/>
          <p:nvPr/>
        </p:nvSpPr>
        <p:spPr>
          <a:xfrm>
            <a:off x="7626096" y="2596896"/>
            <a:ext cx="777240" cy="457200"/>
          </a:xfrm>
          <a:prstGeom prst="roundRect">
            <a:avLst>
              <a:gd name="adj" fmla="val 12000"/>
            </a:avLst>
          </a:prstGeom>
          <a:solidFill>
            <a:srgbClr val="2496ED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vamos ver hoje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77"/>
                </a:solidFill>
              </a:rPr>
              <a:t>2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457200" cy="457200"/>
          </a:xfrm>
          <a:prstGeom prst="ellipse">
            <a:avLst/>
          </a:prstGeom>
          <a:solidFill>
            <a:srgbClr val="2496ED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457200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097280" y="10972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Docker?  </a:t>
            </a:r>
            <a:r>
              <a:rPr lang="en-US" sz="14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problema, a analogia e container vs máquina virtual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57200" y="1783080"/>
            <a:ext cx="457200" cy="457200"/>
          </a:xfrm>
          <a:prstGeom prst="ellipse">
            <a:avLst/>
          </a:prstGeom>
          <a:solidFill>
            <a:srgbClr val="2496ED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45720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097280" y="17830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conceitos  </a:t>
            </a:r>
            <a:r>
              <a:rPr lang="en-US" sz="14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Dockerfile, imagem e container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57200" y="2468880"/>
            <a:ext cx="457200" cy="457200"/>
          </a:xfrm>
          <a:prstGeom prst="ellipse">
            <a:avLst/>
          </a:prstGeom>
          <a:solidFill>
            <a:srgbClr val="2496ED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5720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1097280" y="24688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Instalando no Windows  </a:t>
            </a:r>
            <a:r>
              <a:rPr lang="en-US" sz="14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WSL 2 e Docker Desktop, passo a passo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57200" y="3154680"/>
            <a:ext cx="457200" cy="457200"/>
          </a:xfrm>
          <a:prstGeom prst="ellipse">
            <a:avLst/>
          </a:prstGeom>
          <a:solidFill>
            <a:srgbClr val="2496ED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45720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1097280" y="31546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Prática  </a:t>
            </a:r>
            <a:r>
              <a:rPr lang="en-US" sz="14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subindo um MySQL com docker compose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457200" y="3840480"/>
            <a:ext cx="457200" cy="457200"/>
          </a:xfrm>
          <a:prstGeom prst="ellipse">
            <a:avLst/>
          </a:prstGeom>
          <a:solidFill>
            <a:srgbClr val="2496ED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45720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1097280" y="38404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não travar  </a:t>
            </a:r>
            <a:r>
              <a:rPr lang="en-US" sz="14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volumes, redes, comandos e erros comuns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 que o Docker resolve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77"/>
                </a:solidFill>
              </a:rPr>
              <a:t>3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3931920" cy="2468880"/>
          </a:xfrm>
          <a:prstGeom prst="roundRect">
            <a:avLst>
              <a:gd name="adj" fmla="val 2963"/>
            </a:avLst>
          </a:prstGeom>
          <a:solidFill>
            <a:srgbClr val="FDECEC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40080" y="1234440"/>
            <a:ext cx="3566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9B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Docker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pessoa instala Java, banco e ferramentas na própria máquina. Versões diferentes, configurações diferentes: o projeto funciona em uma máquina e quebra na outra.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4754880" y="1097280"/>
            <a:ext cx="3931920" cy="2468880"/>
          </a:xfrm>
          <a:prstGeom prst="roundRect">
            <a:avLst>
              <a:gd name="adj" fmla="val 2963"/>
            </a:avLst>
          </a:prstGeom>
          <a:solidFill>
            <a:srgbClr val="E8F3FD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4937760" y="1234440"/>
            <a:ext cx="3566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Docker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projeto carrega o próprio ambiente dentro de "caixinhas" padronizadas. Quem receber roda do mesmo jeito, em qualquer computador.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"Na minha máquina funciona" vira "funciona em todas".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analogia: o container de navio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77"/>
                </a:solidFill>
              </a:rPr>
              <a:t>4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2560320" cy="2377440"/>
          </a:xfrm>
          <a:prstGeom prst="roundRect">
            <a:avLst>
              <a:gd name="adj" fmla="val 3077"/>
            </a:avLst>
          </a:prstGeom>
          <a:solidFill>
            <a:srgbClr val="E8F3FD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40080" y="1234440"/>
            <a:ext cx="2194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caixa padrão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r>
              <a:rPr lang="en-US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importa o que tem dentro (banana, carro, notebook). O navio só precisa saber carregar a caixa.</a:t>
            </a:r>
            <a:endParaRPr lang="en-US" dirty="0"/>
          </a:p>
        </p:txBody>
      </p:sp>
      <p:sp>
        <p:nvSpPr>
          <p:cNvPr id="7" name="Shape 4"/>
          <p:cNvSpPr/>
          <p:nvPr/>
        </p:nvSpPr>
        <p:spPr>
          <a:xfrm>
            <a:off x="3291840" y="1097280"/>
            <a:ext cx="2560320" cy="2377440"/>
          </a:xfrm>
          <a:prstGeom prst="roundRect">
            <a:avLst>
              <a:gd name="adj" fmla="val 3077"/>
            </a:avLst>
          </a:prstGeom>
          <a:solidFill>
            <a:srgbClr val="E8F3FD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474720" y="1234440"/>
            <a:ext cx="2194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container Docker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r>
              <a:rPr lang="en-US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importa o que tem dentro (Java, MySQL, Node). O computador só precisa saber rodar containers.</a:t>
            </a: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6126480" y="1097280"/>
            <a:ext cx="2560320" cy="2377440"/>
          </a:xfrm>
          <a:prstGeom prst="roundRect">
            <a:avLst>
              <a:gd name="adj" fmla="val 3077"/>
            </a:avLst>
          </a:prstGeom>
          <a:solidFill>
            <a:srgbClr val="E8F3FD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309360" y="1234440"/>
            <a:ext cx="2194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ganho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r>
              <a:rPr lang="en-US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Empacota uma vez, roda em qualquer lugar: notebook, servidor, nuvem.</a:t>
            </a:r>
            <a:endParaRPr lang="en-US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= a caixa padrão do mundo do software.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vs Máquina Virtual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77"/>
                </a:solidFill>
              </a:rPr>
              <a:t>5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3931920" cy="2103120"/>
          </a:xfrm>
          <a:prstGeom prst="roundRect">
            <a:avLst>
              <a:gd name="adj" fmla="val 3478"/>
            </a:avLst>
          </a:prstGeom>
          <a:solidFill>
            <a:srgbClr val="EEF1F5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40080" y="1234440"/>
            <a:ext cx="3566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Máquina Virtual</a:t>
            </a:r>
            <a:endParaRPr lang="en-US" sz="2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VM tem um sistema operacional inteiro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Pesada (GBs)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Demora minutos para ligar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Poucas por computador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754880" y="1097280"/>
            <a:ext cx="3931920" cy="2103120"/>
          </a:xfrm>
          <a:prstGeom prst="roundRect">
            <a:avLst>
              <a:gd name="adj" fmla="val 3478"/>
            </a:avLst>
          </a:prstGeom>
          <a:solidFill>
            <a:srgbClr val="E8F3FD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4937760" y="1234440"/>
            <a:ext cx="3566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</a:t>
            </a:r>
            <a:endParaRPr lang="en-US" sz="2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Compartilha o núcleo do sistema do computador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 (MBs)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Liga em segundos</a:t>
            </a:r>
            <a:endParaRPr lang="en-US" sz="16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Dezenas por computador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57200" y="3566160"/>
            <a:ext cx="1965960" cy="731520"/>
          </a:xfrm>
          <a:prstGeom prst="roundRect">
            <a:avLst>
              <a:gd name="adj" fmla="val 10000"/>
            </a:avLst>
          </a:prstGeom>
          <a:solidFill>
            <a:srgbClr val="0A1F44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48640" y="356616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performático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2560320" y="3566160"/>
            <a:ext cx="1965960" cy="731520"/>
          </a:xfrm>
          <a:prstGeom prst="roundRect">
            <a:avLst>
              <a:gd name="adj" fmla="val 10000"/>
            </a:avLst>
          </a:prstGeom>
          <a:solidFill>
            <a:srgbClr val="0A1F44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2651760" y="356616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 mais rápido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663440" y="3566160"/>
            <a:ext cx="1965960" cy="731520"/>
          </a:xfrm>
          <a:prstGeom prst="roundRect">
            <a:avLst>
              <a:gd name="adj" fmla="val 10000"/>
            </a:avLst>
          </a:prstGeom>
          <a:solidFill>
            <a:srgbClr val="0A1F44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754880" y="356616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só o espaço da aplicação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766560" y="3566160"/>
            <a:ext cx="1965960" cy="731520"/>
          </a:xfrm>
          <a:prstGeom prst="roundRect">
            <a:avLst>
              <a:gd name="adj" fmla="val 10000"/>
            </a:avLst>
          </a:prstGeom>
          <a:solidFill>
            <a:srgbClr val="0A1F44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858000" y="356616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 ser automatizado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3 elementos: Dockerfile, Imagem, Container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77"/>
                </a:solidFill>
              </a:rPr>
              <a:t>6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2377440" cy="2011680"/>
          </a:xfrm>
          <a:prstGeom prst="roundRect">
            <a:avLst>
              <a:gd name="adj" fmla="val 3636"/>
            </a:avLst>
          </a:prstGeom>
          <a:solidFill>
            <a:srgbClr val="E8F3FD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40080" y="1234440"/>
            <a:ext cx="2011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Dockerfile: a receita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Arquivo de texto com os passos para montar o ambiente.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383280" y="1097280"/>
            <a:ext cx="2377440" cy="2011680"/>
          </a:xfrm>
          <a:prstGeom prst="roundRect">
            <a:avLst>
              <a:gd name="adj" fmla="val 3636"/>
            </a:avLst>
          </a:prstGeom>
          <a:solidFill>
            <a:srgbClr val="E8F3FD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566160" y="1234440"/>
            <a:ext cx="2011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Imagem: o molde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Pacote fechado, somente leitura, gerado pela receita.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309360" y="1097280"/>
            <a:ext cx="2377440" cy="2011680"/>
          </a:xfrm>
          <a:prstGeom prst="roundRect">
            <a:avLst>
              <a:gd name="adj" fmla="val 3636"/>
            </a:avLst>
          </a:prstGeom>
          <a:solidFill>
            <a:srgbClr val="2496ED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492240" y="1234440"/>
            <a:ext cx="2011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Container: o app rodando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Instância viva da imagem. Pode ligar, parar e apagar.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283464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49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2" name="Text 9"/>
          <p:cNvSpPr txBox="1"/>
          <p:nvPr/>
        </p:nvSpPr>
        <p:spPr>
          <a:xfrm>
            <a:off x="576072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49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3" name="Shape 10"/>
          <p:cNvSpPr/>
          <p:nvPr/>
        </p:nvSpPr>
        <p:spPr>
          <a:xfrm>
            <a:off x="457200" y="3383280"/>
            <a:ext cx="4023360" cy="457200"/>
          </a:xfrm>
          <a:prstGeom prst="rect">
            <a:avLst/>
          </a:prstGeom>
          <a:solidFill>
            <a:srgbClr val="0A1F44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40080" y="33832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build   Dockerfile → Imagem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663440" y="3383280"/>
            <a:ext cx="4023360" cy="457200"/>
          </a:xfrm>
          <a:prstGeom prst="rect">
            <a:avLst/>
          </a:prstGeom>
          <a:solidFill>
            <a:srgbClr val="0A1F44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4846320" y="33832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  Imagem → Container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imagem pode gerar vários containers, como uma receita rende vários bolos.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Instalando no Windows (1/2)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77"/>
                </a:solidFill>
              </a:rPr>
              <a:t>7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3931920" cy="1508760"/>
          </a:xfrm>
          <a:prstGeom prst="roundRect">
            <a:avLst>
              <a:gd name="adj" fmla="val 4848"/>
            </a:avLst>
          </a:prstGeom>
          <a:solidFill>
            <a:srgbClr val="E8F3FD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40080" y="1234440"/>
            <a:ext cx="3566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1: baixar e instalar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Baixe o Docker Desktop em docker.com/products/docker-desktop e instale com as opções padrão.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754880" y="1097280"/>
            <a:ext cx="3931920" cy="1508760"/>
          </a:xfrm>
          <a:prstGeom prst="roundRect">
            <a:avLst>
              <a:gd name="adj" fmla="val 4848"/>
            </a:avLst>
          </a:prstGeom>
          <a:solidFill>
            <a:srgbClr val="E8F3FD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4937760" y="1234440"/>
            <a:ext cx="3566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2: preparar o Windows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r>
              <a:rPr lang="en-US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Abra o PowerShell como administrador (botão direito → Executar como administrador) e ative os dois recursos abaixo.</a:t>
            </a:r>
            <a:endParaRPr lang="en-US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2788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 no PowerShell (administrador):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" y="3108960"/>
            <a:ext cx="8229600" cy="868680"/>
          </a:xfrm>
          <a:prstGeom prst="rect">
            <a:avLst/>
          </a:prstGeom>
          <a:solidFill>
            <a:srgbClr val="0A1F44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40080" y="310896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dism.exe /online /enable-feature /featurename:Microsoft-Windows-Subsystem-Linux /all /norestart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dism.exe /online /enable-feature /featurename:VirtualMachinePlatform /all /norestart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/norestart só evita reiniciar agora. O reinício vem no próximo passo. A configuração do ambiente pode variar de PC para PC.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Instalando no Windows (2/2)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77"/>
                </a:solidFill>
              </a:rPr>
              <a:t>8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E8F3FD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40080" y="123444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3: reiniciar e ajustar o WSL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Reinicie o computador. Depois, no PowerShell, rode estes comandos (o primeiro só se for preciso):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57200" y="2606040"/>
            <a:ext cx="4023360" cy="1005840"/>
          </a:xfrm>
          <a:prstGeom prst="rect">
            <a:avLst/>
          </a:prstGeom>
          <a:solidFill>
            <a:srgbClr val="0A1F44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40080" y="260604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wsl.exe --update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wsl --set-default-version 2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wsl --status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7490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Esperado: Versão Padrão: 2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663440" y="109728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E8F3FD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846320" y="123444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4: testar o Docker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Abra o Docker Desktop, espere ele iniciar e rode no terminal: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663440" y="2606040"/>
            <a:ext cx="4023360" cy="1005840"/>
          </a:xfrm>
          <a:prstGeom prst="rect">
            <a:avLst/>
          </a:prstGeom>
          <a:solidFill>
            <a:srgbClr val="0A1F44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4846320" y="260604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--version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hello-world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4663440" y="37490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Esperado: mensagem "Hello from Docker!"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Prática: o arquivo docker-compose.yml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77"/>
                </a:solidFill>
              </a:rPr>
              <a:t>9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8229600" cy="2880360"/>
          </a:xfrm>
          <a:prstGeom prst="rect">
            <a:avLst/>
          </a:prstGeom>
          <a:solidFill>
            <a:srgbClr val="0A1F44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40080" y="1051560"/>
            <a:ext cx="786384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services: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mysql: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image: mysql:8.0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container_name: streamguard-mysql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restart: always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environment: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MYSQL_ROOT_PASSWORD: root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ports: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"3306:3306"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volumes: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mysql_data:/var/lib/mysql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./database/nomeScript.sql:/docker-entrypoint-initdb.d/nomeScript.sql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volumes: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mysql_data: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4069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uma pasta database (para o script .sql) e salve este arquivo como docker-compose.yml na pasta do projeto.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Lendo o arquivo linha a linha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77"/>
                </a:solidFill>
              </a:rPr>
              <a:t>10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2926080" cy="448056"/>
          </a:xfrm>
          <a:prstGeom prst="rect">
            <a:avLst/>
          </a:prstGeom>
          <a:solidFill>
            <a:srgbClr val="0A1F44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94360" y="1051560"/>
            <a:ext cx="26517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image: mysql:8.0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474720" y="1051560"/>
            <a:ext cx="5212080" cy="448056"/>
          </a:xfrm>
          <a:prstGeom prst="rect">
            <a:avLst/>
          </a:prstGeom>
          <a:solidFill>
            <a:srgbClr val="E8F3FD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611880" y="1051560"/>
            <a:ext cx="49377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imagem usar: MySQL versão 8.0 (baixada do Docker Hub)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1572768"/>
            <a:ext cx="2926080" cy="448056"/>
          </a:xfrm>
          <a:prstGeom prst="rect">
            <a:avLst/>
          </a:prstGeom>
          <a:solidFill>
            <a:srgbClr val="0A1F44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94360" y="1572768"/>
            <a:ext cx="26517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container_name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474720" y="1572768"/>
            <a:ext cx="5212080" cy="448056"/>
          </a:xfrm>
          <a:prstGeom prst="rect">
            <a:avLst/>
          </a:prstGeom>
          <a:solidFill>
            <a:srgbClr val="E8F3FD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3611880" y="1572768"/>
            <a:ext cx="49377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 do container: streamguard-mysql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7200" y="2093976"/>
            <a:ext cx="2926080" cy="448056"/>
          </a:xfrm>
          <a:prstGeom prst="rect">
            <a:avLst/>
          </a:prstGeom>
          <a:solidFill>
            <a:srgbClr val="0A1F44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94360" y="2093976"/>
            <a:ext cx="26517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restart: always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474720" y="2093976"/>
            <a:ext cx="5212080" cy="448056"/>
          </a:xfrm>
          <a:prstGeom prst="rect">
            <a:avLst/>
          </a:prstGeom>
          <a:solidFill>
            <a:srgbClr val="E8F3FD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3611880" y="2093976"/>
            <a:ext cx="49377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Liga sozinho se cair ou se o computador reiniciar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57200" y="2615184"/>
            <a:ext cx="2926080" cy="448056"/>
          </a:xfrm>
          <a:prstGeom prst="rect">
            <a:avLst/>
          </a:prstGeom>
          <a:solidFill>
            <a:srgbClr val="0A1F44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594360" y="2615184"/>
            <a:ext cx="26517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MYSQL_ROOT_PASSWORD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3474720" y="2615184"/>
            <a:ext cx="5212080" cy="448056"/>
          </a:xfrm>
          <a:prstGeom prst="rect">
            <a:avLst/>
          </a:prstGeom>
          <a:solidFill>
            <a:srgbClr val="E8F3FD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3611880" y="2615184"/>
            <a:ext cx="49377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Senha do usuário root. Use "root" só para estudo!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457200" y="3136392"/>
            <a:ext cx="2926080" cy="448056"/>
          </a:xfrm>
          <a:prstGeom prst="rect">
            <a:avLst/>
          </a:prstGeom>
          <a:solidFill>
            <a:srgbClr val="0A1F44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594360" y="3136392"/>
            <a:ext cx="26517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ports: "3306:3306"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3474720" y="3136392"/>
            <a:ext cx="5212080" cy="448056"/>
          </a:xfrm>
          <a:prstGeom prst="rect">
            <a:avLst/>
          </a:prstGeom>
          <a:solidFill>
            <a:srgbClr val="E8F3FD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3611880" y="3136392"/>
            <a:ext cx="49377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 do PC : porta do container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457200" y="3657600"/>
            <a:ext cx="2926080" cy="448056"/>
          </a:xfrm>
          <a:prstGeom prst="rect">
            <a:avLst/>
          </a:prstGeom>
          <a:solidFill>
            <a:srgbClr val="0A1F44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594360" y="3657600"/>
            <a:ext cx="26517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mysql_data:/var/lib/mysql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3474720" y="3657600"/>
            <a:ext cx="5212080" cy="448056"/>
          </a:xfrm>
          <a:prstGeom prst="rect">
            <a:avLst/>
          </a:prstGeom>
          <a:solidFill>
            <a:srgbClr val="E8F3FD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3611880" y="3657600"/>
            <a:ext cx="49377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Volume: guarda os dados do banco fora do container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457200" y="4178808"/>
            <a:ext cx="2926080" cy="448056"/>
          </a:xfrm>
          <a:prstGeom prst="rect">
            <a:avLst/>
          </a:prstGeom>
          <a:solidFill>
            <a:srgbClr val="0A1F44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594360" y="4178808"/>
            <a:ext cx="26517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nomeScript.sql → initdb.d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3474720" y="4178808"/>
            <a:ext cx="5212080" cy="448056"/>
          </a:xfrm>
          <a:prstGeom prst="rect">
            <a:avLst/>
          </a:prstGeom>
          <a:solidFill>
            <a:srgbClr val="E8F3FD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3611880" y="4178808"/>
            <a:ext cx="493776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 script .sql roda sozinho quando o banco é criado pela 1ª vez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Subindo e verificando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77"/>
                </a:solidFill>
              </a:rPr>
              <a:t>11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4663440" cy="1097280"/>
          </a:xfrm>
          <a:prstGeom prst="roundRect">
            <a:avLst>
              <a:gd name="adj" fmla="val 6667"/>
            </a:avLst>
          </a:prstGeom>
          <a:solidFill>
            <a:srgbClr val="E8F3FD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40080" y="118872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Subir: docker compose up -d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Rode dentro da pasta do projeto. O -d deixa tudo em segundo plano.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2221992"/>
            <a:ext cx="4663440" cy="1097280"/>
          </a:xfrm>
          <a:prstGeom prst="roundRect">
            <a:avLst>
              <a:gd name="adj" fmla="val 6667"/>
            </a:avLst>
          </a:prstGeom>
          <a:solidFill>
            <a:srgbClr val="E8F3FD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40080" y="2359152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Conferir: docker ps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os containers ligados. Procure streamguard-mysql com status Up.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7200" y="3392424"/>
            <a:ext cx="4663440" cy="1097280"/>
          </a:xfrm>
          <a:prstGeom prst="roundRect">
            <a:avLst>
              <a:gd name="adj" fmla="val 6667"/>
            </a:avLst>
          </a:prstGeom>
          <a:solidFill>
            <a:srgbClr val="E8F3FD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40080" y="3529584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Ver no Docker Desktop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 Containers: mostra o container, uso de CPU e memória e botões para parar e apagar.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394960" y="1051560"/>
            <a:ext cx="3291840" cy="3438144"/>
          </a:xfrm>
          <a:prstGeom prst="roundRect">
            <a:avLst>
              <a:gd name="adj" fmla="val 2222"/>
            </a:avLst>
          </a:prstGeom>
          <a:solidFill>
            <a:srgbClr val="FDECEC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577840" y="1188720"/>
            <a:ext cx="2926080" cy="3163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9B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 erro de porta?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mensagem "ports are not available… 3306" quer dizer que a porta já está ocupada, por exemplo por um MySQL instalado no Windows.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Solução: troque o lado esquerdo para "3307:3306" (ou pare o outro MySQL) e rode o comando de novo.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Volumes: guardando dados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77"/>
                </a:solidFill>
              </a:rPr>
              <a:t>12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3931920" cy="2286000"/>
          </a:xfrm>
          <a:prstGeom prst="roundRect">
            <a:avLst>
              <a:gd name="adj" fmla="val 3200"/>
            </a:avLst>
          </a:prstGeom>
          <a:solidFill>
            <a:srgbClr val="FDECEC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40080" y="1234440"/>
            <a:ext cx="3566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9B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volume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container é descartável. Ao apagá-lo, tudo que estava dentro some, inclusive o banco de dados.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754880" y="1097280"/>
            <a:ext cx="3931920" cy="2286000"/>
          </a:xfrm>
          <a:prstGeom prst="roundRect">
            <a:avLst>
              <a:gd name="adj" fmla="val 3200"/>
            </a:avLst>
          </a:prstGeom>
          <a:solidFill>
            <a:srgbClr val="E8F3FD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4937760" y="1234440"/>
            <a:ext cx="3566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volume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dados ficam numa pasta gerenciada pelo Docker. O container morre, o volume continua. No nosso arquivo: mysql_data.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7200" y="3749040"/>
            <a:ext cx="2926080" cy="457200"/>
          </a:xfrm>
          <a:prstGeom prst="rect">
            <a:avLst/>
          </a:prstGeom>
          <a:solidFill>
            <a:srgbClr val="0A1F44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40080" y="37490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volume ls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3566160" y="37490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os volumes. Use volumes para bancos de dados.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Compose: tudo com um comando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77"/>
                </a:solidFill>
              </a:rPr>
              <a:t>14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3291840" cy="3291840"/>
          </a:xfrm>
          <a:prstGeom prst="roundRect">
            <a:avLst>
              <a:gd name="adj" fmla="val 2222"/>
            </a:avLst>
          </a:prstGeom>
          <a:solidFill>
            <a:srgbClr val="E8F3FD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40080" y="1234440"/>
            <a:ext cx="29260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arquivo docker-compose.yml que descreve todos os containers do projeto: portas, volumes e dependências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ele, você digitaria vários docker run gigantes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023360" y="1097280"/>
            <a:ext cx="4663440" cy="502920"/>
          </a:xfrm>
          <a:prstGeom prst="rect">
            <a:avLst/>
          </a:prstGeom>
          <a:solidFill>
            <a:srgbClr val="0A1F44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4206240" y="109728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up -d --build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4023360" y="166420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Sobe tudo (e reconstrói as imagens, se algo mudou)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023360" y="2240280"/>
            <a:ext cx="4663440" cy="502920"/>
          </a:xfrm>
          <a:prstGeom prst="rect">
            <a:avLst/>
          </a:prstGeom>
          <a:solidFill>
            <a:srgbClr val="0A1F44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206240" y="224028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logs -f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4023360" y="280720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 os logs ao vivo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023360" y="3383280"/>
            <a:ext cx="4663440" cy="502920"/>
          </a:xfrm>
          <a:prstGeom prst="rect">
            <a:avLst/>
          </a:prstGeom>
          <a:solidFill>
            <a:srgbClr val="0A1F44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206240" y="338328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F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down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4023360" y="395020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Derruba tudo. Com -v, apaga também os volumes (os dados!)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Comandos essenciais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77"/>
                </a:solidFill>
              </a:rPr>
              <a:t>15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57200" y="1051560"/>
            <a:ext cx="3108960" cy="347472"/>
          </a:xfrm>
          <a:prstGeom prst="rect">
            <a:avLst/>
          </a:prstGeom>
          <a:solidFill>
            <a:srgbClr val="0A1F44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94360" y="105156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hello-world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657600" y="1051560"/>
            <a:ext cx="5029200" cy="347472"/>
          </a:xfrm>
          <a:prstGeom prst="rect">
            <a:avLst/>
          </a:prstGeom>
          <a:solidFill>
            <a:srgbClr val="E8F3FD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794760" y="105156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 se instalou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1472184"/>
            <a:ext cx="3108960" cy="347472"/>
          </a:xfrm>
          <a:prstGeom prst="rect">
            <a:avLst/>
          </a:prstGeom>
          <a:solidFill>
            <a:srgbClr val="0A1F44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94360" y="1472184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ps -a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657600" y="1472184"/>
            <a:ext cx="5029200" cy="347472"/>
          </a:xfrm>
          <a:prstGeom prst="rect">
            <a:avLst/>
          </a:prstGeom>
          <a:solidFill>
            <a:srgbClr val="E8F3FD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3794760" y="1472184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containers (inclusive parados)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7200" y="1892808"/>
            <a:ext cx="3108960" cy="347472"/>
          </a:xfrm>
          <a:prstGeom prst="rect">
            <a:avLst/>
          </a:prstGeom>
          <a:solidFill>
            <a:srgbClr val="0A1F44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94360" y="189280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images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657600" y="1892808"/>
            <a:ext cx="5029200" cy="347472"/>
          </a:xfrm>
          <a:prstGeom prst="rect">
            <a:avLst/>
          </a:prstGeom>
          <a:solidFill>
            <a:srgbClr val="E8F3FD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3794760" y="1892808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imagens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57200" y="2313432"/>
            <a:ext cx="3108960" cy="347472"/>
          </a:xfrm>
          <a:prstGeom prst="rect">
            <a:avLst/>
          </a:prstGeom>
          <a:solidFill>
            <a:srgbClr val="0A1F44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594360" y="231343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logs -f nome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3657600" y="2313432"/>
            <a:ext cx="5029200" cy="347472"/>
          </a:xfrm>
          <a:prstGeom prst="rect">
            <a:avLst/>
          </a:prstGeom>
          <a:solidFill>
            <a:srgbClr val="E8F3FD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3794760" y="231343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Vê os logs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457200" y="2734056"/>
            <a:ext cx="3108960" cy="347472"/>
          </a:xfrm>
          <a:prstGeom prst="rect">
            <a:avLst/>
          </a:prstGeom>
          <a:solidFill>
            <a:srgbClr val="0A1F44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594360" y="273405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exec -it nome bash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3657600" y="2734056"/>
            <a:ext cx="5029200" cy="347472"/>
          </a:xfrm>
          <a:prstGeom prst="rect">
            <a:avLst/>
          </a:prstGeom>
          <a:solidFill>
            <a:srgbClr val="E8F3FD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3794760" y="2734056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no container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457200" y="3154680"/>
            <a:ext cx="3108960" cy="347472"/>
          </a:xfrm>
          <a:prstGeom prst="rect">
            <a:avLst/>
          </a:prstGeom>
          <a:solidFill>
            <a:srgbClr val="0A1F44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594360" y="315468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stop nome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3657600" y="3154680"/>
            <a:ext cx="5029200" cy="347472"/>
          </a:xfrm>
          <a:prstGeom prst="rect">
            <a:avLst/>
          </a:prstGeom>
          <a:solidFill>
            <a:srgbClr val="E8F3FD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3794760" y="315468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o container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457200" y="3575304"/>
            <a:ext cx="3108960" cy="347472"/>
          </a:xfrm>
          <a:prstGeom prst="rect">
            <a:avLst/>
          </a:prstGeom>
          <a:solidFill>
            <a:srgbClr val="0A1F44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594360" y="3575304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rm nome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3657600" y="3575304"/>
            <a:ext cx="5029200" cy="347472"/>
          </a:xfrm>
          <a:prstGeom prst="rect">
            <a:avLst/>
          </a:prstGeom>
          <a:solidFill>
            <a:srgbClr val="E8F3FD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3794760" y="3575304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o container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457200" y="3995928"/>
            <a:ext cx="3108960" cy="347472"/>
          </a:xfrm>
          <a:prstGeom prst="rect">
            <a:avLst/>
          </a:prstGeom>
          <a:solidFill>
            <a:srgbClr val="0A1F44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594360" y="399592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system prune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3657600" y="3995928"/>
            <a:ext cx="5029200" cy="347472"/>
          </a:xfrm>
          <a:prstGeom prst="rect">
            <a:avLst/>
          </a:prstGeom>
          <a:solidFill>
            <a:srgbClr val="E8F3FD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3794760" y="3995928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Limpa o que não está em uso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Erros comuns e como resolver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77"/>
                </a:solidFill>
              </a:rPr>
              <a:t>16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3931920" cy="1600200"/>
          </a:xfrm>
          <a:prstGeom prst="roundRect">
            <a:avLst>
              <a:gd name="adj" fmla="val 4571"/>
            </a:avLst>
          </a:prstGeom>
          <a:solidFill>
            <a:srgbClr val="FDECEC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40080" y="1234440"/>
            <a:ext cx="3566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9B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 já em uso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 "ports are not available". Troque a porta da esquerda (3307:3306) ou pare o outro serviço.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754880" y="1097280"/>
            <a:ext cx="3931920" cy="1600200"/>
          </a:xfrm>
          <a:prstGeom prst="roundRect">
            <a:avLst>
              <a:gd name="adj" fmla="val 4571"/>
            </a:avLst>
          </a:prstGeom>
          <a:solidFill>
            <a:srgbClr val="FDECEC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4937760" y="1234440"/>
            <a:ext cx="3566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9B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WSL desatualizado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Rode no PowerShell: wsl.exe --update e reinicie o Docker Desktop.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7200" y="2880360"/>
            <a:ext cx="3931920" cy="1600200"/>
          </a:xfrm>
          <a:prstGeom prst="roundRect">
            <a:avLst>
              <a:gd name="adj" fmla="val 4571"/>
            </a:avLst>
          </a:prstGeom>
          <a:solidFill>
            <a:srgbClr val="FDECEC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40080" y="3017520"/>
            <a:ext cx="3566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9B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Virtualização desligada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Docker Desktop não inicia. Ative a virtualização nas configurações (BIOS) do computador.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754880" y="2880360"/>
            <a:ext cx="3931920" cy="1600200"/>
          </a:xfrm>
          <a:prstGeom prst="roundRect">
            <a:avLst>
              <a:gd name="adj" fmla="val 4571"/>
            </a:avLst>
          </a:prstGeom>
          <a:solidFill>
            <a:srgbClr val="FDECEC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937760" y="3017520"/>
            <a:ext cx="3566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9B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"docker" não é reconhecido</a:t>
            </a:r>
            <a:endParaRPr lang="en-US" sz="14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Abra o Docker Desktop, espere iniciar e abra um terminal novo.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Resumo: o que levar da aula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77"/>
                </a:solidFill>
              </a:rPr>
              <a:t>17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2194560" cy="493776"/>
          </a:xfrm>
          <a:prstGeom prst="rect">
            <a:avLst/>
          </a:prstGeom>
          <a:solidFill>
            <a:srgbClr val="2496ED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94360" y="1097280"/>
            <a:ext cx="1920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2743200" y="1097280"/>
            <a:ext cx="5943600" cy="493776"/>
          </a:xfrm>
          <a:prstGeom prst="rect">
            <a:avLst/>
          </a:prstGeom>
          <a:solidFill>
            <a:srgbClr val="E8F3FD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2880360" y="1097280"/>
            <a:ext cx="5669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Empacota app + ambiente em caixas padrão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1664208"/>
            <a:ext cx="2194560" cy="493776"/>
          </a:xfrm>
          <a:prstGeom prst="rect">
            <a:avLst/>
          </a:prstGeom>
          <a:solidFill>
            <a:srgbClr val="2496ED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94360" y="1664208"/>
            <a:ext cx="1920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Imagem e container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2743200" y="1664208"/>
            <a:ext cx="5943600" cy="493776"/>
          </a:xfrm>
          <a:prstGeom prst="rect">
            <a:avLst/>
          </a:prstGeom>
          <a:solidFill>
            <a:srgbClr val="E8F3FD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2880360" y="1664208"/>
            <a:ext cx="5669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Imagem é o molde; container é o app rodando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7200" y="2231136"/>
            <a:ext cx="2194560" cy="493776"/>
          </a:xfrm>
          <a:prstGeom prst="rect">
            <a:avLst/>
          </a:prstGeom>
          <a:solidFill>
            <a:srgbClr val="2496ED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94360" y="2231136"/>
            <a:ext cx="1920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2743200" y="2231136"/>
            <a:ext cx="5943600" cy="493776"/>
          </a:xfrm>
          <a:prstGeom prst="rect">
            <a:avLst/>
          </a:prstGeom>
          <a:solidFill>
            <a:srgbClr val="E8F3FD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2880360" y="2231136"/>
            <a:ext cx="5669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os dados fora do container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57200" y="2798064"/>
            <a:ext cx="2194560" cy="493776"/>
          </a:xfrm>
          <a:prstGeom prst="rect">
            <a:avLst/>
          </a:prstGeom>
          <a:solidFill>
            <a:srgbClr val="2496ED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594360" y="2798064"/>
            <a:ext cx="1920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 e portas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2743200" y="2798064"/>
            <a:ext cx="5943600" cy="493776"/>
          </a:xfrm>
          <a:prstGeom prst="rect">
            <a:avLst/>
          </a:prstGeom>
          <a:solidFill>
            <a:srgbClr val="E8F3FD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2880360" y="2798064"/>
            <a:ext cx="5669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 se acham pelo nome; porta PC : container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457200" y="3364992"/>
            <a:ext cx="2194560" cy="493776"/>
          </a:xfrm>
          <a:prstGeom prst="rect">
            <a:avLst/>
          </a:prstGeom>
          <a:solidFill>
            <a:srgbClr val="2496ED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594360" y="3364992"/>
            <a:ext cx="1920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2743200" y="3364992"/>
            <a:ext cx="5943600" cy="493776"/>
          </a:xfrm>
          <a:prstGeom prst="rect">
            <a:avLst/>
          </a:prstGeom>
          <a:solidFill>
            <a:srgbClr val="E8F3FD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2880360" y="3364992"/>
            <a:ext cx="5669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Sobe o projeto inteiro com um comando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457200" y="3931920"/>
            <a:ext cx="2194560" cy="493776"/>
          </a:xfrm>
          <a:prstGeom prst="rect">
            <a:avLst/>
          </a:prstGeom>
          <a:solidFill>
            <a:srgbClr val="2496ED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594360" y="3931920"/>
            <a:ext cx="1920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Instalação</a:t>
            </a:r>
            <a:endParaRPr lang="en-US" sz="1500" dirty="0"/>
          </a:p>
        </p:txBody>
      </p:sp>
      <p:sp>
        <p:nvSpPr>
          <p:cNvPr id="27" name="Shape 24"/>
          <p:cNvSpPr/>
          <p:nvPr/>
        </p:nvSpPr>
        <p:spPr>
          <a:xfrm>
            <a:off x="2743200" y="3931920"/>
            <a:ext cx="5943600" cy="493776"/>
          </a:xfrm>
          <a:prstGeom prst="rect">
            <a:avLst/>
          </a:prstGeom>
          <a:solidFill>
            <a:srgbClr val="E8F3FD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2880360" y="3931920"/>
            <a:ext cx="5669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WSL 2 + Docker Desktop; teste com hello-world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539</TotalTime>
  <Words>1732</Words>
  <Application>Microsoft Office PowerPoint</Application>
  <PresentationFormat>Apresentação na tela (16:9)</PresentationFormat>
  <Paragraphs>220</Paragraphs>
  <Slides>16</Slides>
  <Notes>16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Courier New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MARINA SANTOS PAIXÃO RIBEIRO</cp:lastModifiedBy>
  <cp:revision>3</cp:revision>
  <dcterms:created xsi:type="dcterms:W3CDTF">2026-10-01T01:52:45Z</dcterms:created>
  <dcterms:modified xsi:type="dcterms:W3CDTF">2026-10-01T19:13:03Z</dcterms:modified>
</cp:coreProperties>
</file>